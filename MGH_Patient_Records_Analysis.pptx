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F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F45"/>
                </a:solidFill>
                <a:latin typeface="Arial"/>
              </a:rPr>
              <a:t>Total Encounters per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Encounters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A2F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1336</c:v>
                </c:pt>
                <c:pt idx="1">
                  <c:v>2106</c:v>
                </c:pt>
                <c:pt idx="2">
                  <c:v>2495</c:v>
                </c:pt>
                <c:pt idx="3">
                  <c:v>3885</c:v>
                </c:pt>
                <c:pt idx="4">
                  <c:v>2469</c:v>
                </c:pt>
                <c:pt idx="5">
                  <c:v>2451</c:v>
                </c:pt>
                <c:pt idx="6">
                  <c:v>2360</c:v>
                </c:pt>
                <c:pt idx="7">
                  <c:v>2292</c:v>
                </c:pt>
                <c:pt idx="8">
                  <c:v>2228</c:v>
                </c:pt>
                <c:pt idx="9">
                  <c:v>2519</c:v>
                </c:pt>
                <c:pt idx="10">
                  <c:v>3530</c:v>
                </c:pt>
                <c:pt idx="11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A2F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F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F45"/>
                </a:solidFill>
                <a:latin typeface="Arial"/>
              </a:rPr>
              <a:t>Stay Duration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E8454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Under 24 hrs</c:v>
                </c:pt>
                <c:pt idx="1">
                  <c:v>Over 24 hrs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27816</c:v>
                </c:pt>
                <c:pt idx="1">
                  <c:v>75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F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F45"/>
                </a:solidFill>
                <a:latin typeface="Arial"/>
              </a:rPr>
              <a:t>Avg. Claim Cost by Payer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Claim Cost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F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Dual Eligible</c:v>
                  </c:pt>
                  <c:pt idx="1">
                    <c:v>Medicare</c:v>
                  </c:pt>
                  <c:pt idx="2">
                    <c:v>Aetna</c:v>
                  </c:pt>
                  <c:pt idx="3">
                    <c:v>UnitedHealthcare</c:v>
                  </c:pt>
                  <c:pt idx="4">
                    <c:v>Cigna Health</c:v>
                  </c:pt>
                  <c:pt idx="5">
                    <c:v>Blue Cross Blue Shield</c:v>
                  </c:pt>
                  <c:pt idx="6">
                    <c:v>Humana</c:v>
                  </c:pt>
                  <c:pt idx="7">
                    <c:v>Anthem</c:v>
                  </c:pt>
                  <c:pt idx="8">
                    <c:v>NO_INSURANCE</c:v>
                  </c:pt>
                  <c:pt idx="9">
                    <c:v>Medicaid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1596</c:v>
                </c:pt>
                <c:pt idx="1">
                  <c:v>2168</c:v>
                </c:pt>
                <c:pt idx="2">
                  <c:v>2767</c:v>
                </c:pt>
                <c:pt idx="3">
                  <c:v>2848</c:v>
                </c:pt>
                <c:pt idx="4">
                  <c:v>2997</c:v>
                </c:pt>
                <c:pt idx="5">
                  <c:v>3248</c:v>
                </c:pt>
                <c:pt idx="6">
                  <c:v>3269</c:v>
                </c:pt>
                <c:pt idx="7">
                  <c:v>4237</c:v>
                </c:pt>
                <c:pt idx="8">
                  <c:v>5593</c:v>
                </c:pt>
                <c:pt idx="9">
                  <c:v>6205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F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F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F45"/>
                </a:solidFill>
                <a:latin typeface="Arial"/>
              </a:rPr>
              <a:t>30-Day Readmissions per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Readmissions</c:v>
                </c:pt>
              </c:strCache>
            </c:strRef>
          </c:tx>
          <c:spPr>
            <a:solidFill>
              <a:srgbClr val="E8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A2F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635</c:v>
                </c:pt>
                <c:pt idx="1">
                  <c:v>1030</c:v>
                </c:pt>
                <c:pt idx="2">
                  <c:v>1901</c:v>
                </c:pt>
                <c:pt idx="3">
                  <c:v>2558</c:v>
                </c:pt>
                <c:pt idx="4">
                  <c:v>1476</c:v>
                </c:pt>
                <c:pt idx="5">
                  <c:v>1504</c:v>
                </c:pt>
                <c:pt idx="6">
                  <c:v>1341</c:v>
                </c:pt>
                <c:pt idx="7">
                  <c:v>1326</c:v>
                </c:pt>
                <c:pt idx="8">
                  <c:v>1301</c:v>
                </c:pt>
                <c:pt idx="9">
                  <c:v>1526</c:v>
                </c:pt>
                <c:pt idx="10">
                  <c:v>2281</c:v>
                </c:pt>
                <c:pt idx="11">
                  <c:v>154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A2F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1C7293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5486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Massachusetts General Hospital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Analysis  |  2011 – 2022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Bahaa   </a:t>
            </a:r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  <a:pPr algn="ctr" indent="0" marL="0">
              <a:buNone/>
            </a:pPr>
            <a:r>
              <a:rPr lang="en-US" sz="11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Bahaa Pharmacy — Data Analytics Division   </a:t>
            </a:r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  <a:pPr algn="ctr" indent="0" marL="0">
              <a:buNone/>
            </a:pPr>
            <a:r>
              <a:rPr lang="en-US" sz="11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Synthea Synthetic Patient Generator  |  ~974 Patients  |  27,891 Encounters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029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099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records, and data structure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1148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5029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774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4688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8529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metrics snapshot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41148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20440"/>
            <a:ext cx="5029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204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6118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 Overview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9959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trends, class breakdown, length of stay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234440"/>
            <a:ext cx="41148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234440"/>
            <a:ext cx="5029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2344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3258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Coverage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7099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costs, payer coverage, top procedures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41148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377440"/>
            <a:ext cx="5029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3774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4688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Behavior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8529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30-day readmissions, top patients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0440"/>
            <a:ext cx="41148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520440"/>
            <a:ext cx="5029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5204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6118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9959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60020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600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patients.csv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6334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medical history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188720"/>
            <a:ext cx="160020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188720"/>
            <a:ext cx="1600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188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171907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encounters.csv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11680" y="2148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27,891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11680" y="26334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2880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visits,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&amp; payer info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49040" y="1188720"/>
            <a:ext cx="160020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188720"/>
            <a:ext cx="1600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188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49040" y="171907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procedures.csv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49040" y="2148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47,701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49040" y="26334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49040" y="2880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procedures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encounter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0" y="1188720"/>
            <a:ext cx="160020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1188720"/>
            <a:ext cx="1600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188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0" y="171907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payers.csv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0" y="2148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0" y="26334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2880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1188720"/>
            <a:ext cx="160020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1188720"/>
            <a:ext cx="1600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1188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223760" y="171907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organizations.csv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223760" y="2148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223760" y="26334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23760" y="2880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931920"/>
            <a:ext cx="859536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9319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Coverage Period: 2011 – 2022   |   Source: Synthea Synthetic Patient Generator   |   Hospital: Massachusetts General Hospital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0116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Total Unique Patients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974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450592" y="114300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1143000"/>
            <a:ext cx="20116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Total Encounters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50592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27,891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626864" y="114300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143000"/>
            <a:ext cx="20116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Avg Encounters / Patient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6864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803136" y="114300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1143000"/>
            <a:ext cx="20116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🛏️  Avg Length of Stay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03136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days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2011680" cy="41148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Avg Total Claim Cost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3474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$3,640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2450592" y="301752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50592" y="3017520"/>
            <a:ext cx="20116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Insurance Coverage Rate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50592" y="3474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51.3%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4626864" y="301752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3017520"/>
            <a:ext cx="2011680" cy="41148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Avg Out-of-Pocket Cost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26864" y="3474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$2,525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6803136" y="301752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03136" y="3017520"/>
            <a:ext cx="2011680" cy="41148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30-Day Readmission Rate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03136" y="3474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60.2%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— Encounters Overview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760720" y="1005840"/>
          <a:ext cx="3200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E8F4F8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</a:t>
            </a:r>
            <a:pPr indent="0" marL="0">
              <a:buNone/>
            </a:pPr>
            <a:r>
              <a:rPr lang="en-US" sz="10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peaked in 2014 (3,885 encounters) with a COVID dip in 2019–2020 and strong recovery in 2021.  </a:t>
            </a:r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pPr indent="0" marL="0">
              <a:buNone/>
            </a:pPr>
            <a:r>
              <a:rPr lang="en-US" sz="10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all encounters were under 24 hours — the hospital is primarily outpatient.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— Cost &amp; Coverage Insights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20040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1005840"/>
            <a:ext cx="73152" cy="749808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104241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48.7%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06440" y="138988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 with Zero Coverage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0" y="1874520"/>
            <a:ext cx="320040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874520"/>
            <a:ext cx="73152" cy="749808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91109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13,586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806440" y="2258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Uninsured Encounters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2743200"/>
            <a:ext cx="320040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2743200"/>
            <a:ext cx="73152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277977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$206,260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806440" y="312724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— ICU Admission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3611880"/>
            <a:ext cx="320040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3611880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364845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4,596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806440" y="39959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Procedure Count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Key Insight: </a:t>
            </a:r>
            <a:pPr indent="0" marL="0">
              <a:buNone/>
            </a:pPr>
            <a:r>
              <a:rPr lang="en-US" sz="10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</a:t>
            </a:r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encounters (48.7%) </a:t>
            </a:r>
            <a:pPr indent="0" marL="0">
              <a:buNone/>
            </a:pPr>
            <a:r>
              <a:rPr lang="en-US" sz="10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zero insurance coverage, leaving patients with an avg out-of-pocket cost of </a:t>
            </a:r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$2,525 per visit.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— Patient Behavior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20040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1005840"/>
            <a:ext cx="73152" cy="749808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104241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06440" y="138988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Readmission Rate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0" y="1874520"/>
            <a:ext cx="320040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874520"/>
            <a:ext cx="73152" cy="749808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91109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806440" y="2258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 Rate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2743200"/>
            <a:ext cx="320040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2743200"/>
            <a:ext cx="73152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277977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16,786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806440" y="312724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30-Day Readmit Encounters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3611880"/>
            <a:ext cx="320040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3611880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364845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806440" y="39959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Readmissions — Single Patient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Key Insight: </a:t>
            </a:r>
            <a:pPr indent="0" marL="0">
              <a:buNone/>
            </a:pPr>
            <a:r>
              <a:rPr lang="en-US" sz="10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60.2% of all encounters were 30-day readmissions, strongly suggesting a patient population </a:t>
            </a:r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chronic conditions</a:t>
            </a:r>
            <a:pPr indent="0" marL="0">
              <a:buNone/>
            </a:pPr>
            <a:r>
              <a:rPr lang="en-US" sz="10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such as renal failure, heart disease, and end-of-life care.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— Full Overview</a:t>
            </a:r>
            <a:endParaRPr lang="en-US" sz="2400" dirty="0"/>
          </a:p>
        </p:txBody>
      </p:sp>
      <p:pic>
        <p:nvPicPr>
          <p:cNvPr id="4" name="Image 0" descr="/home/claude/final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Key Findings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72184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17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was peak year with 3,885 encounters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856232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013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Ambulatory visits dominate every year at 50%+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854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 of encounters were under 24 hours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24328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694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48.7% of encounters had zero insurance coverage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08376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9535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out-of-pocket cost: $2,525 per visit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392424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337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admission avg cost: $206,260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76472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721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60.2% of encounters were 30-day readmissions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1056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had 1,375 readmissions alone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53712" y="960120"/>
            <a:ext cx="36576" cy="3840480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Recommendations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411480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417320"/>
            <a:ext cx="502920" cy="10515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4173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14904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Insurance Coverage Gap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1828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financial assistance programs, Medicaid enrollment support, and patient payment plans to reduce uninsured burden.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606040"/>
            <a:ext cx="411480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60604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6060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26791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Care Management Program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30175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top 15 high-readmission patients with a dedicated program to reduce unnecessary 30-day readmissions.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794760"/>
            <a:ext cx="411480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794760"/>
            <a:ext cx="50292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7947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49240" y="38679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Post-COVID Recovery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42062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2021 rebound is promising. Conduct a full 2022–2023 analysis to confirm the recovery trend is sustained.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103120"/>
            <a:ext cx="27432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Massachusetts General Hospital — Patient Records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Bahaa</a:t>
            </a:r>
            <a:pPr algn="ctr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Bahaa Pharmacy, Data Analytics Division   |   Dirout, Assiut, Egypt   |   May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3611880"/>
            <a:ext cx="1463040" cy="100584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63931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3611880"/>
            <a:ext cx="1463040" cy="100584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363931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27,891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611880"/>
            <a:ext cx="1463040" cy="100584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63931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47,701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3611880"/>
            <a:ext cx="1463040" cy="100584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63931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yrs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Massachusetts General Hospital — Patient Records Analysis</dc:title>
  <dc:subject>PptxGenJS Presentation</dc:subject>
  <dc:creator>Dr. Bahaa</dc:creator>
  <cp:lastModifiedBy>Dr. Bahaa</cp:lastModifiedBy>
  <cp:revision>1</cp:revision>
  <dcterms:created xsi:type="dcterms:W3CDTF">2026-05-21T17:30:45Z</dcterms:created>
  <dcterms:modified xsi:type="dcterms:W3CDTF">2026-05-21T17:30:45Z</dcterms:modified>
</cp:coreProperties>
</file>